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2" r:id="rId7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378521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Metrics and visuals are derived from our local project runs (no external sources).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Definitions and structure based on course PEAS framework; metrics are from our local runs.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Pipeline is based on our implemented modules in /src; metrics from local runs.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Accuracy, F1, and confusion matrix values are from our final test run (src.evaluate).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Policy description is based on our implemented agent.py and backtest settings.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Ethics statements are general; results and visuals are from our local project outputs.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1/11/2026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754746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1/11/2026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414976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1/11/2026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130354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1/11/2026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125964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1/11/2026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73292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1/11/2026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9998270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1/11/2026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715262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1/11/2026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352509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1/11/2026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645290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288404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803820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15736335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1003770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5538359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4573165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1/11/2026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4332237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1/11/2026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9660018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6845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8E36636D-D922-432D-A958-524484B5923D}" type="datetimeFigureOut">
              <a:rPr lang="en-US" dirty="0"/>
              <a:pPr/>
              <a:t>1/11/2026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680980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257800"/>
            <a:ext cx="12191695" cy="1600200"/>
          </a:xfrm>
          <a:prstGeom prst="rect">
            <a:avLst/>
          </a:prstGeom>
          <a:solidFill>
            <a:srgbClr val="111C33">
              <a:alpha val="65000"/>
            </a:srgbClr>
          </a:solidFill>
          <a:ln w="12700">
            <a:solidFill>
              <a:srgbClr val="111C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201168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Trading Agent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841248" y="2834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+ Rule-based Decision Policy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22960" y="3703320"/>
            <a:ext cx="6035040" cy="13258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51560" y="388620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CEN352 Artificial Intelligence — Term Project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4187952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Amel Sula · Aldinio Nurce · Dion Toska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4553712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498080" y="3840480"/>
            <a:ext cx="3840480" cy="502920"/>
          </a:xfrm>
          <a:prstGeom prst="round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43800" y="394106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AI ✓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498080" y="4480560"/>
            <a:ext cx="3840480" cy="502920"/>
          </a:xfrm>
          <a:prstGeom prst="round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43800" y="458114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evaluation ✓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11C33"/>
          </a:solidFill>
          <a:ln w="12700">
            <a:solidFill>
              <a:srgbClr val="111C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09728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Task Definition (PEAS)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0" y="14630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CEN352 Term Project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097280"/>
            <a:ext cx="5669280" cy="53949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13258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1737360"/>
            <a:ext cx="5303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 intelligent agent that decides whether to BUY, SELL, or HOLD a stock using historical market data in an offline simulation.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278892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is an AI problem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0120" y="3154680"/>
            <a:ext cx="5120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Sequential decision-making under uncertainty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Partial observability (future prices unknown)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Need for learning + rational action selection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Quantitative evaluation of performance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68680" y="4892040"/>
            <a:ext cx="5349240" cy="1417320"/>
          </a:xfrm>
          <a:prstGeom prst="roundRect">
            <a:avLst/>
          </a:prstGeom>
          <a:solidFill>
            <a:srgbClr val="111C33"/>
          </a:solidFill>
          <a:ln w="12700">
            <a:solidFill>
              <a:srgbClr val="111C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5047488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AI techniques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51560" y="534924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Random Forest classifier (Up/Down)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Rule-based trading policy (Buy/Sell/Hold)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583680" y="1097280"/>
            <a:ext cx="4937760" cy="12344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812280" y="1353312"/>
            <a:ext cx="685800" cy="685800"/>
          </a:xfrm>
          <a:prstGeom prst="round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12280" y="1426464"/>
            <a:ext cx="685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635240" y="1298448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635240" y="1600200"/>
            <a:ext cx="3703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F1 (Up)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Return, Max Drawdown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583680" y="2560320"/>
            <a:ext cx="4937760" cy="12344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12280" y="2816352"/>
            <a:ext cx="685800" cy="685800"/>
          </a:xfrm>
          <a:prstGeom prst="round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12280" y="2889504"/>
            <a:ext cx="685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635240" y="2761488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635240" y="3063240"/>
            <a:ext cx="3703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OHLCV(open, high low, close volume)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simulation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583680" y="4023360"/>
            <a:ext cx="4937760" cy="12344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812280" y="4279392"/>
            <a:ext cx="685800" cy="68580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12280" y="4352544"/>
            <a:ext cx="685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635240" y="4224528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Actuators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635240" y="4526280"/>
            <a:ext cx="3703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/ Sell / Hold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 share max)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583680" y="5486400"/>
            <a:ext cx="4937760" cy="12344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812280" y="5742432"/>
            <a:ext cx="685800" cy="685800"/>
          </a:xfrm>
          <a:prstGeom prst="round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12280" y="5815584"/>
            <a:ext cx="685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7635240" y="5687568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635240" y="5989320"/>
            <a:ext cx="3703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 + indicators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(SMA, RSI, vol)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11C33"/>
          </a:solidFill>
          <a:ln w="12700">
            <a:solidFill>
              <a:srgbClr val="111C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09728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Pipeline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0" y="14630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→ Learning → Decision → Evaluation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2011680"/>
            <a:ext cx="2011680" cy="18288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2240280"/>
            <a:ext cx="548640" cy="548640"/>
          </a:xfrm>
          <a:prstGeom prst="round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63040" y="2212848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283464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OHLCV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(AAPL CSV)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651760" y="2761488"/>
            <a:ext cx="118872" cy="320040"/>
          </a:xfrm>
          <a:prstGeom prst="rightArrow">
            <a:avLst/>
          </a:prstGeom>
          <a:solidFill>
            <a:srgbClr val="111C33"/>
          </a:solidFill>
          <a:ln w="12700">
            <a:solidFill>
              <a:srgbClr val="111C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16352" y="2011680"/>
            <a:ext cx="2011680" cy="18288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044952" y="2240280"/>
            <a:ext cx="548640" cy="54864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85032" y="2212848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044952" y="283464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Returns, SMA, RSI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Volatility, Momentum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873752" y="2761488"/>
            <a:ext cx="118872" cy="320040"/>
          </a:xfrm>
          <a:prstGeom prst="rightArrow">
            <a:avLst/>
          </a:prstGeom>
          <a:solidFill>
            <a:srgbClr val="111C33"/>
          </a:solidFill>
          <a:ln w="12700">
            <a:solidFill>
              <a:srgbClr val="111C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38344" y="2011680"/>
            <a:ext cx="2011680" cy="18288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266944" y="2240280"/>
            <a:ext cx="548640" cy="548640"/>
          </a:xfrm>
          <a:prstGeom prst="round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07024" y="2212848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266944" y="283464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Up/Down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095744" y="2761488"/>
            <a:ext cx="118872" cy="320040"/>
          </a:xfrm>
          <a:prstGeom prst="rightArrow">
            <a:avLst/>
          </a:prstGeom>
          <a:solidFill>
            <a:srgbClr val="111C33"/>
          </a:solidFill>
          <a:ln w="12700">
            <a:solidFill>
              <a:srgbClr val="111C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260336" y="2011680"/>
            <a:ext cx="2011680" cy="18288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488936" y="2240280"/>
            <a:ext cx="548640" cy="548640"/>
          </a:xfrm>
          <a:prstGeom prst="round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29016" y="2212848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488936" y="283464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+ P(Up)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controls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9317736" y="2761488"/>
            <a:ext cx="118872" cy="320040"/>
          </a:xfrm>
          <a:prstGeom prst="rightArrow">
            <a:avLst/>
          </a:prstGeom>
          <a:solidFill>
            <a:srgbClr val="111C33"/>
          </a:solidFill>
          <a:ln w="12700">
            <a:solidFill>
              <a:srgbClr val="111C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482328" y="2011680"/>
            <a:ext cx="2011680" cy="18288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710928" y="2240280"/>
            <a:ext cx="548640" cy="548640"/>
          </a:xfrm>
          <a:prstGeom prst="round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351008" y="2212848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710928" y="283464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Return, MaxDD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baselines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731520" y="1051560"/>
            <a:ext cx="5394960" cy="8229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960120" y="1124712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Label: Next-day direction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60120" y="1444752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= 1 if Close[t+1] &gt; Close[t], else 0</a:t>
            </a:r>
          </a:p>
          <a:p>
            <a:pPr marL="0" indent="0">
              <a:buNone/>
            </a:pPr>
            <a:r>
              <a:rPr lang="en-US" sz="13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Given today’s indicators, predict if tomorrow will go up</a:t>
            </a:r>
          </a:p>
        </p:txBody>
      </p:sp>
      <p:sp>
        <p:nvSpPr>
          <p:cNvPr id="33" name="Shape 31"/>
          <p:cNvSpPr/>
          <p:nvPr/>
        </p:nvSpPr>
        <p:spPr>
          <a:xfrm>
            <a:off x="6583680" y="1051560"/>
            <a:ext cx="4892040" cy="8229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812280" y="1170432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Time-based split (no shuffling)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812280" y="1444752"/>
            <a:ext cx="4480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70% · Validate 15% · Test 15%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31520" y="630936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in Python (pandas + scikit-learn) with reproducible CLI scripts.</a:t>
            </a:r>
            <a:endParaRPr lang="en-US" sz="12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8C15A7B-0ED6-B60B-D83B-710B7BA19327}"/>
              </a:ext>
            </a:extLst>
          </p:cNvPr>
          <p:cNvSpPr txBox="1"/>
          <p:nvPr/>
        </p:nvSpPr>
        <p:spPr>
          <a:xfrm>
            <a:off x="733631" y="4890028"/>
            <a:ext cx="22912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SMA-Simple Moving Average</a:t>
            </a:r>
          </a:p>
          <a:p>
            <a:r>
              <a:rPr lang="en-US" sz="14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RSI- Relative Strength Index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11C33"/>
          </a:solidFill>
          <a:ln w="12700">
            <a:solidFill>
              <a:srgbClr val="111C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09728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 #1 — Random Forest Classifier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0" y="14630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Test-set performance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097280"/>
            <a:ext cx="3566160" cy="1143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097280"/>
            <a:ext cx="73152" cy="1143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123444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04672" y="1463040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5E7EB"/>
                </a:solidFill>
                <a:latin typeface="+mj-lt"/>
                <a:ea typeface="Calibri" pitchFamily="34" charset="-122"/>
                <a:cs typeface="Calibri" pitchFamily="34" charset="-120"/>
              </a:rPr>
              <a:t>Correct Direction Rate</a:t>
            </a:r>
            <a:endParaRPr lang="en-US" sz="2000" dirty="0">
              <a:latin typeface="+mj-lt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04672" y="1965960"/>
            <a:ext cx="3337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34840" y="1074420"/>
            <a:ext cx="3566160" cy="1143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34840" y="1097280"/>
            <a:ext cx="73152" cy="11430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99432" y="123444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99432" y="1463040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/>
              <a:t>Mean of Precision &amp; Recall</a:t>
            </a:r>
          </a:p>
        </p:txBody>
      </p:sp>
      <p:sp>
        <p:nvSpPr>
          <p:cNvPr id="16" name="Shape 14"/>
          <p:cNvSpPr/>
          <p:nvPr/>
        </p:nvSpPr>
        <p:spPr>
          <a:xfrm>
            <a:off x="8229600" y="1097280"/>
            <a:ext cx="3337560" cy="25146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458200" y="1261872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464040" y="1572768"/>
            <a:ext cx="1005840" cy="1005840"/>
          </a:xfrm>
          <a:prstGeom prst="roundRect">
            <a:avLst/>
          </a:prstGeom>
          <a:solidFill>
            <a:srgbClr val="111C33"/>
          </a:solidFill>
          <a:ln w="12700">
            <a:solidFill>
              <a:srgbClr val="38BDF8">
                <a:alpha val="6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464040" y="1709928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10607040" y="1572768"/>
            <a:ext cx="1005840" cy="1005840"/>
          </a:xfrm>
          <a:prstGeom prst="roundRect">
            <a:avLst/>
          </a:prstGeom>
          <a:solidFill>
            <a:srgbClr val="111C33"/>
          </a:solidFill>
          <a:ln w="12700">
            <a:solidFill>
              <a:srgbClr val="F59E0B">
                <a:alpha val="6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607040" y="1709928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</a:t>
            </a:r>
            <a:endParaRPr lang="en-US" sz="2600" dirty="0"/>
          </a:p>
        </p:txBody>
      </p:sp>
      <p:sp>
        <p:nvSpPr>
          <p:cNvPr id="25" name="Shape 23"/>
          <p:cNvSpPr/>
          <p:nvPr/>
        </p:nvSpPr>
        <p:spPr>
          <a:xfrm>
            <a:off x="9464040" y="2715768"/>
            <a:ext cx="1005840" cy="1005840"/>
          </a:xfrm>
          <a:prstGeom prst="roundRect">
            <a:avLst/>
          </a:prstGeom>
          <a:solidFill>
            <a:srgbClr val="111C33"/>
          </a:solidFill>
          <a:ln w="12700">
            <a:solidFill>
              <a:srgbClr val="F59E0B">
                <a:alpha val="6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464040" y="2852928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</a:t>
            </a:r>
            <a:endParaRPr lang="en-US" sz="2600" dirty="0"/>
          </a:p>
        </p:txBody>
      </p:sp>
      <p:sp>
        <p:nvSpPr>
          <p:cNvPr id="28" name="Shape 26"/>
          <p:cNvSpPr/>
          <p:nvPr/>
        </p:nvSpPr>
        <p:spPr>
          <a:xfrm>
            <a:off x="10607040" y="2715768"/>
            <a:ext cx="1005840" cy="1005840"/>
          </a:xfrm>
          <a:prstGeom prst="roundRect">
            <a:avLst/>
          </a:prstGeom>
          <a:solidFill>
            <a:srgbClr val="111C33"/>
          </a:solidFill>
          <a:ln w="12700">
            <a:solidFill>
              <a:srgbClr val="22C55E">
                <a:alpha val="65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607040" y="2852928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</a:t>
            </a:r>
            <a:endParaRPr lang="en-US" sz="2600" dirty="0"/>
          </a:p>
        </p:txBody>
      </p:sp>
      <p:sp>
        <p:nvSpPr>
          <p:cNvPr id="31" name="Shape 29"/>
          <p:cNvSpPr/>
          <p:nvPr/>
        </p:nvSpPr>
        <p:spPr>
          <a:xfrm>
            <a:off x="640080" y="2423160"/>
            <a:ext cx="7223760" cy="40690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868680" y="2606040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960120" y="3099816"/>
            <a:ext cx="6675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next-day direction is noisy and difficult.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is conservative on “Up” days (many FN), so it produces fewer buy-worthy signals.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use the predicted probability P(Up) as input to the trading policy, not as a standalone system.</a:t>
            </a:r>
          </a:p>
        </p:txBody>
      </p:sp>
      <p:sp>
        <p:nvSpPr>
          <p:cNvPr id="34" name="Shape 32"/>
          <p:cNvSpPr/>
          <p:nvPr/>
        </p:nvSpPr>
        <p:spPr>
          <a:xfrm>
            <a:off x="868680" y="4800600"/>
            <a:ext cx="6903720" cy="1417320"/>
          </a:xfrm>
          <a:prstGeom prst="roundRect">
            <a:avLst/>
          </a:prstGeom>
          <a:solidFill>
            <a:srgbClr val="111C33"/>
          </a:solidFill>
          <a:ln w="12700">
            <a:solidFill>
              <a:srgbClr val="111C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51560" y="4937760"/>
            <a:ext cx="6492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051560" y="5212080"/>
            <a:ext cx="6583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combine learning (classifier) with rational decision rules to form an intelligent agent that can be evaluated end-to-end.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11C33"/>
          </a:solidFill>
          <a:ln w="12700">
            <a:solidFill>
              <a:srgbClr val="111C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09728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 #2 — Rule-based Trading Policy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0" y="14630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/ Sell / Hold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097280"/>
            <a:ext cx="6492240" cy="53949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1280160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logic (high-level)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68680" y="1828800"/>
            <a:ext cx="6035040" cy="1051560"/>
          </a:xfrm>
          <a:prstGeom prst="roundRect">
            <a:avLst/>
          </a:prstGeom>
          <a:solidFill>
            <a:srgbClr val="111C33"/>
          </a:solidFill>
          <a:ln w="12700">
            <a:solidFill>
              <a:srgbClr val="22C55E">
                <a:alpha val="6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51560" y="2066544"/>
            <a:ext cx="566928" cy="566928"/>
          </a:xfrm>
          <a:prstGeom prst="round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19072" y="199339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(BUY)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719072" y="23317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Uptrend AND P(Up) ≥ threshold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68680" y="3063240"/>
            <a:ext cx="6035040" cy="1051560"/>
          </a:xfrm>
          <a:prstGeom prst="roundRect">
            <a:avLst/>
          </a:prstGeom>
          <a:solidFill>
            <a:srgbClr val="111C33"/>
          </a:solidFill>
          <a:ln w="12700">
            <a:solidFill>
              <a:srgbClr val="38BDF8">
                <a:alpha val="6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51560" y="3300984"/>
            <a:ext cx="566928" cy="566928"/>
          </a:xfrm>
          <a:prstGeom prst="round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19072" y="322783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719072" y="35661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intact (stay invested)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68680" y="4297680"/>
            <a:ext cx="6035040" cy="1051560"/>
          </a:xfrm>
          <a:prstGeom prst="roundRect">
            <a:avLst/>
          </a:prstGeom>
          <a:solidFill>
            <a:srgbClr val="111C33"/>
          </a:solidFill>
          <a:ln w="12700">
            <a:solidFill>
              <a:srgbClr val="EF4444">
                <a:alpha val="6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1560" y="4535424"/>
            <a:ext cx="566928" cy="566928"/>
          </a:xfrm>
          <a:prstGeom prst="round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719072" y="446227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(SELL)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719072" y="48006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breaks OR risk rule triggers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68680" y="5463540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controls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28700" y="5767779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Stop-loss: sell if loss exceeds threshold</a:t>
            </a:r>
            <a:endParaRPr lang="en-US" sz="12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Take-profit: sell if profit exceeds threshold</a:t>
            </a:r>
            <a:endParaRPr lang="en-US" sz="12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fee and max 1 share constraint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406640" y="1097280"/>
            <a:ext cx="4160520" cy="53949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635240" y="128016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an intelligent agent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635240" y="1874520"/>
            <a:ext cx="37490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Uses learned model outputs as “belief”</a:t>
            </a:r>
            <a:endParaRPr lang="en-US" sz="13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Acts rationally to optimize performance</a:t>
            </a:r>
            <a:endParaRPr lang="en-US" sz="13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Includes explicit constraints &amp; risk limits</a:t>
            </a:r>
            <a:endParaRPr lang="en-US" sz="13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Evaluated end-to-end vs baselines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635240" y="3703320"/>
            <a:ext cx="3749040" cy="2697480"/>
          </a:xfrm>
          <a:prstGeom prst="roundRect">
            <a:avLst/>
          </a:prstGeom>
          <a:solidFill>
            <a:srgbClr val="111C33"/>
          </a:solidFill>
          <a:ln w="12700">
            <a:solidFill>
              <a:srgbClr val="111C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818120" y="38862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properties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818120" y="420624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Partially observable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Stochastic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 actions / continuous prices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818120" y="52120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type: learning agent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11C33"/>
          </a:solidFill>
          <a:ln w="12700">
            <a:solidFill>
              <a:srgbClr val="111C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09728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 &amp; Future 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0" y="14630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097280"/>
            <a:ext cx="5806440" cy="53949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178308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consideration (societal impact)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1783080"/>
            <a:ext cx="539496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ea typeface="Calibri" pitchFamily="34" charset="-122"/>
                <a:cs typeface="Calibri" pitchFamily="34" charset="-120"/>
              </a:rPr>
              <a:t>Automated trading systems can contribute to market instability, increase volatility, and create unfair advantages for those with access to advanced AI tools.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ea typeface="Calibri" pitchFamily="34" charset="-122"/>
                <a:cs typeface="Calibri" pitchFamily="34" charset="-120"/>
              </a:rPr>
              <a:t>This project is strictly educational: it uses offline historical data, includes transparent evaluation, and does not claim real-world trading effectiveness.</a:t>
            </a:r>
          </a:p>
          <a:p>
            <a:pPr marL="0" indent="0">
              <a:buNone/>
            </a:pPr>
            <a:endParaRPr lang="en-US" sz="1600" dirty="0">
              <a:solidFill>
                <a:srgbClr val="94A3B8"/>
              </a:solidFill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ea typeface="Calibri" pitchFamily="34" charset="-122"/>
                <a:cs typeface="Calibri" pitchFamily="34" charset="-120"/>
              </a:rPr>
              <a:t>Thus we still cannot deploy it as a real working AI powered agent which will predict stock prices.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720840" y="1097280"/>
            <a:ext cx="4846320" cy="53949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949440" y="12801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926580" y="1463040"/>
            <a:ext cx="45262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Walk-forward validation and more robust time-series evaluation</a:t>
            </a:r>
            <a:endParaRPr lang="en-US" sz="13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Improved features and hyperparameter tuning</a:t>
            </a:r>
            <a:endParaRPr lang="en-US" sz="13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Position sizing and portfolio-level risk management</a:t>
            </a:r>
            <a:endParaRPr lang="en-US" sz="1300" dirty="0"/>
          </a:p>
        </p:txBody>
      </p:sp>
      <p:sp>
        <p:nvSpPr>
          <p:cNvPr id="18" name="Shape 13">
            <a:extLst>
              <a:ext uri="{FF2B5EF4-FFF2-40B4-BE49-F238E27FC236}">
                <a16:creationId xmlns:a16="http://schemas.microsoft.com/office/drawing/2014/main" id="{C0D1411B-CAAD-FB21-E35B-04112C2E0788}"/>
              </a:ext>
            </a:extLst>
          </p:cNvPr>
          <p:cNvSpPr/>
          <p:nvPr/>
        </p:nvSpPr>
        <p:spPr>
          <a:xfrm>
            <a:off x="7164404" y="3261761"/>
            <a:ext cx="3959192" cy="2906428"/>
          </a:xfrm>
          <a:prstGeom prst="roundRect">
            <a:avLst/>
          </a:prstGeom>
          <a:solidFill>
            <a:srgbClr val="111C33"/>
          </a:solidFill>
          <a:ln w="12700">
            <a:solidFill>
              <a:srgbClr val="111C33"/>
            </a:solidFill>
            <a:prstDash val="solid"/>
          </a:ln>
        </p:spPr>
        <p:txBody>
          <a:bodyPr/>
          <a:lstStyle/>
          <a:p>
            <a:endParaRPr lang="en-US" sz="2000" b="1" dirty="0">
              <a:solidFill>
                <a:srgbClr val="94A3B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2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Reminder</a:t>
            </a:r>
          </a:p>
          <a:p>
            <a:endParaRPr lang="en-US" sz="1600" dirty="0">
              <a:solidFill>
                <a:srgbClr val="94A3B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600" dirty="0">
                <a:solidFill>
                  <a:srgbClr val="94A3B8"/>
                </a:solidFill>
                <a:ea typeface="Calibri" pitchFamily="34" charset="-122"/>
                <a:cs typeface="Calibri" pitchFamily="34" charset="-120"/>
              </a:rPr>
              <a:t>Our system demonstrates the course concepts: learning, rational action selection, and quantitative evaluation (classification + trading).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92</TotalTime>
  <Words>800</Words>
  <Application>Microsoft Office PowerPoint</Application>
  <PresentationFormat>Widescreen</PresentationFormat>
  <Paragraphs>128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Calibri</vt:lpstr>
      <vt:lpstr>Calisto MT</vt:lpstr>
      <vt:lpstr>Wingdings 2</vt:lpstr>
      <vt:lpstr>Slate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Amel Sula · Aldinio Nurce · Dion Toska</dc:creator>
  <cp:lastModifiedBy>USER</cp:lastModifiedBy>
  <cp:revision>7</cp:revision>
  <dcterms:created xsi:type="dcterms:W3CDTF">2026-01-02T15:13:12Z</dcterms:created>
  <dcterms:modified xsi:type="dcterms:W3CDTF">2026-01-11T17:17:31Z</dcterms:modified>
</cp:coreProperties>
</file>